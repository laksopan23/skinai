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6" r:id="rId5"/>
    <p:sldId id="337" r:id="rId6"/>
    <p:sldId id="259" r:id="rId7"/>
    <p:sldId id="340" r:id="rId8"/>
    <p:sldId id="341" r:id="rId9"/>
    <p:sldId id="262" r:id="rId10"/>
    <p:sldId id="339" r:id="rId11"/>
    <p:sldId id="261" r:id="rId12"/>
    <p:sldId id="338" r:id="rId13"/>
    <p:sldId id="260" r:id="rId14"/>
    <p:sldId id="263" r:id="rId15"/>
    <p:sldId id="264" r:id="rId16"/>
    <p:sldId id="342" r:id="rId17"/>
    <p:sldId id="265" r:id="rId18"/>
    <p:sldId id="32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8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33C9-B1AC-4C5A-D557-DEA50891F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7F32E-7D50-79B1-CE7B-CCB4FACBF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03E4E-8A8A-9FFC-35F1-ABDD44D18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A2BDA-8D54-B2E0-2E22-05CBCD58C9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39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06AD-4A7E-7406-6081-70737243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78C26-A804-F141-90B1-A656BDC45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AD1CF-1C3A-A90F-5BBD-C94DF7BB6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05B29-C433-B527-461F-7B706E6036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069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DBD19-FC7D-D095-FEA6-A3226239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FB7C5-B979-A789-5EA9-3A0D44CD2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7DFF2-8954-7D95-88F4-9A9D37F25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E02C8-DC3D-28B9-1126-E7CCE3524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11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A7B22-649F-83C5-AAF3-B0B0ACBC5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C92FA-29B4-2ED4-FDAE-99A423AF6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E4EC6-1DBD-CF88-AE50-52B489525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8C55E-3C06-9C3B-5EDB-8A658BB4D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71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C70C2-21D0-0670-15EB-C52AFD8AF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C3232-0030-16EB-AA8B-F7A15EC33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53374-1774-EB5F-CAFE-30D983D40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2532-D5A0-2061-C871-F63A26CB3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39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C3C1-978F-C342-CB28-1EAC122E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5171A-64E1-BC23-CB3C-C32E61933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B51CA-2F40-2947-E4FF-3E23994CA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FA369-58C1-1A4B-6DC5-FC29A7CA7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43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4861656"/>
            <a:ext cx="9144000" cy="282515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5007680"/>
            <a:ext cx="9144000" cy="135821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59740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-365760"/>
            <a:ext cx="1645920" cy="1645920"/>
          </a:xfrm>
          <a:prstGeom prst="ellipse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Framework for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20040" y="1463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&amp; Context-Aware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9659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Disease Diagnosis, Monitoring,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20040" y="2468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Treatment Support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20040" y="3090672"/>
            <a:ext cx="5486400" cy="3657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004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25-26J-222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65760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3639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Mihisandali W.K.M  (IT22246400)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04164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6928" y="4023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Devindi K.P.T  (IT22249784)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65760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64608" y="3639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Wijesinghe H.W.M.O.P  (IT22643322)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04164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64608" y="4023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Laksopan R  (IT22277954)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320040" y="4919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SLIIT – Faculty of Computing, Dept. of Information Technology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Areas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specialist access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5176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914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Image-only, misses symptoms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2651760" cy="1188720"/>
          </a:xfrm>
          <a:prstGeom prst="rect">
            <a:avLst/>
          </a:prstGeom>
          <a:solidFill>
            <a:srgbClr val="0D21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914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Bias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fail dark tones</a:t>
            </a:r>
            <a:endParaRPr lang="en-US" sz="11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67712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8368" y="22311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 faces widespread skin disease burden — eczema, acne, dermatitis — affecting mental and physical health across all demographics.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077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8368" y="28712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 facilities are sparse in rural &amp; semi-urban regions; patients rely on self-diagnosis or unverified online sources.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54787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" y="35112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AI systems are unimodal — dependent only on images — and fail under varied lighting, skin tones, and visually similar conditions.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8795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8368" y="41513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symptoms (pruritus, pain, recurrence) are non-visual and cannot be captured by image-only approaches, reducing diagnostic accuracy.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&amp; Design Excellence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4-component multimodal AI dermatological decision-support system: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91440" cy="150876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353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Diagnosis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11480" y="18288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ASR + NLP symptom fusion for robust skin disease classification beyond image-only approaches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261872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1261872"/>
            <a:ext cx="91440" cy="150876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353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Severity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846320" y="18288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with CLAHE normalization — interpretable Mild / Moderate / Severe tracking over time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8600" y="2953512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28600" y="2953512"/>
            <a:ext cx="91440" cy="150876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632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968" y="3044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11480" y="3520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+ DANN adversarial training for fairness across skin tones, lighting, and camera variations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953512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663440" y="2953512"/>
            <a:ext cx="91440" cy="150876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632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21808" y="3044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Recommender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846320" y="3520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Knowledge-graph + LLM mapping disease predictions to 1200+ OTC treatment records with allergy awareness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CDF95-D673-41C8-B985-8F0652BC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F1FDF8-FB0F-F59B-A00B-0F911858BA0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48C28B-49CC-A0A7-F811-FF5B28B8D903}"/>
              </a:ext>
            </a:extLst>
          </p:cNvPr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BEDE42-8631-71A2-6965-9F5149BF39EC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73B0CBA-8B38-6215-6C28-ACF7D795B656}"/>
              </a:ext>
            </a:extLst>
          </p:cNvPr>
          <p:cNvSpPr/>
          <p:nvPr/>
        </p:nvSpPr>
        <p:spPr>
          <a:xfrm>
            <a:off x="228600" y="1261872"/>
            <a:ext cx="91440" cy="150876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D66958B-A737-7F90-DD08-DE1A6EDD6940}"/>
              </a:ext>
            </a:extLst>
          </p:cNvPr>
          <p:cNvSpPr/>
          <p:nvPr/>
        </p:nvSpPr>
        <p:spPr>
          <a:xfrm>
            <a:off x="228600" y="2953512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2ECBE7DF-9211-63D9-CDE5-1D55690D9253}"/>
              </a:ext>
            </a:extLst>
          </p:cNvPr>
          <p:cNvSpPr/>
          <p:nvPr/>
        </p:nvSpPr>
        <p:spPr>
          <a:xfrm>
            <a:off x="228600" y="2953512"/>
            <a:ext cx="91440" cy="150876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4349086E-E467-258E-4110-A55CCF7D3ABC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B205EB68-5A20-2500-BC7A-76B290CA7E90}"/>
              </a:ext>
            </a:extLst>
          </p:cNvPr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A098108-31E5-CD49-2D4C-C17670EE4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11" y="553121"/>
            <a:ext cx="7751298" cy="433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5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C6645-C381-5E60-96BE-C7D2A255C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77EE4-DEE0-D2B5-201F-ACD2E7CF8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208" y="130126"/>
            <a:ext cx="7868479" cy="602404"/>
          </a:xfrm>
        </p:spPr>
        <p:txBody>
          <a:bodyPr/>
          <a:lstStyle/>
          <a:p>
            <a:r>
              <a:rPr lang="en-US" b="1" dirty="0">
                <a:latin typeface="Adobe Devanagari"/>
              </a:rPr>
              <a:t>Used Technologies &amp; Techniques</a:t>
            </a:r>
            <a:endParaRPr lang="en-US" b="1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F131286-D158-A47D-4750-BCF44CC12450}"/>
              </a:ext>
            </a:extLst>
          </p:cNvPr>
          <p:cNvSpPr/>
          <p:nvPr/>
        </p:nvSpPr>
        <p:spPr>
          <a:xfrm>
            <a:off x="798208" y="913111"/>
            <a:ext cx="2461151" cy="602404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en-US" sz="2700" b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Technologies</a:t>
            </a:r>
            <a:endParaRPr lang="en-US" sz="27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D57EC62-FB60-56D4-C886-48F298E80751}"/>
              </a:ext>
            </a:extLst>
          </p:cNvPr>
          <p:cNvSpPr/>
          <p:nvPr/>
        </p:nvSpPr>
        <p:spPr>
          <a:xfrm>
            <a:off x="3631458" y="913110"/>
            <a:ext cx="2461151" cy="602404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600"/>
              </a:spcAft>
            </a:pPr>
            <a:r>
              <a:rPr lang="en-US" sz="2700" b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Algorithms</a:t>
            </a:r>
            <a:endParaRPr lang="en-US" sz="27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1CF4AD3-8775-07EC-3177-219CA77A8964}"/>
              </a:ext>
            </a:extLst>
          </p:cNvPr>
          <p:cNvSpPr/>
          <p:nvPr/>
        </p:nvSpPr>
        <p:spPr>
          <a:xfrm>
            <a:off x="6530449" y="913110"/>
            <a:ext cx="2461151" cy="602404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700" b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Techniques</a:t>
            </a:r>
            <a:endParaRPr lang="en-US" sz="2700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41EE2D-AC81-8442-C942-48812C7E5014}"/>
              </a:ext>
            </a:extLst>
          </p:cNvPr>
          <p:cNvSpPr txBox="1"/>
          <p:nvPr/>
        </p:nvSpPr>
        <p:spPr>
          <a:xfrm>
            <a:off x="500868" y="1755510"/>
            <a:ext cx="31305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r>
              <a:rPr lang="en-US" dirty="0"/>
              <a:t> / TensorFlow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BERT / </a:t>
            </a:r>
            <a:r>
              <a:rPr lang="en-US" dirty="0" err="1"/>
              <a:t>DistilBERT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CNN (</a:t>
            </a:r>
            <a:r>
              <a:rPr lang="en-US" dirty="0" err="1"/>
              <a:t>ResNet</a:t>
            </a:r>
            <a:r>
              <a:rPr lang="en-US" dirty="0"/>
              <a:t> / </a:t>
            </a:r>
            <a:r>
              <a:rPr lang="en-US" dirty="0" err="1"/>
              <a:t>ConvNeXt</a:t>
            </a:r>
            <a:r>
              <a:rPr lang="en-US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OpenCV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ASR (Speech Recognition)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Flask / </a:t>
            </a:r>
            <a:r>
              <a:rPr lang="en-US" dirty="0" err="1"/>
              <a:t>FastAPI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SuperBase</a:t>
            </a:r>
            <a:r>
              <a:rPr lang="en-US" dirty="0"/>
              <a:t> / MySQL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8823CA-ABF4-E7D4-C16D-486DC08E505D}"/>
              </a:ext>
            </a:extLst>
          </p:cNvPr>
          <p:cNvSpPr txBox="1"/>
          <p:nvPr/>
        </p:nvSpPr>
        <p:spPr>
          <a:xfrm>
            <a:off x="3631458" y="1756739"/>
            <a:ext cx="25372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Convolutional Neural Network (CNN)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Transformer Model (BERT / </a:t>
            </a:r>
            <a:r>
              <a:rPr lang="en-US" sz="1600" dirty="0" err="1"/>
              <a:t>DistilBERT</a:t>
            </a:r>
            <a:r>
              <a:rPr lang="en-US" sz="1600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Automatic Speech Recognition (ASR)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Domain-Adversarial Neural Network (DANN)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Rule-based Scoring Algorithm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E29CA7-B421-8C08-5C78-A7F35D1CB46F}"/>
              </a:ext>
            </a:extLst>
          </p:cNvPr>
          <p:cNvSpPr txBox="1"/>
          <p:nvPr/>
        </p:nvSpPr>
        <p:spPr>
          <a:xfrm>
            <a:off x="6574027" y="1515514"/>
            <a:ext cx="2461151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500" dirty="0"/>
              <a:t>Object Detection</a:t>
            </a:r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500" dirty="0"/>
              <a:t>Color Detection in HSV Space</a:t>
            </a:r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500" dirty="0"/>
              <a:t>Euclidean Distance Calculation</a:t>
            </a:r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500" dirty="0"/>
              <a:t>Frame Resizing</a:t>
            </a:r>
          </a:p>
          <a:p>
            <a:pPr marL="257175" indent="-257175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500" dirty="0"/>
              <a:t>Dynamic Line Adjustment </a:t>
            </a:r>
          </a:p>
        </p:txBody>
      </p:sp>
    </p:spTree>
    <p:extLst>
      <p:ext uri="{BB962C8B-B14F-4D97-AF65-F5344CB8AC3E}">
        <p14:creationId xmlns:p14="http://schemas.microsoft.com/office/powerpoint/2010/main" val="222429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Multimodal Symptom-Aware Skin Disease Classification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868680"/>
            <a:ext cx="1325880" cy="15544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325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skin images with patient-reported voice symptoms to improve diagnostic reliability over single-modality systems.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57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377440"/>
            <a:ext cx="8412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extracts visual texture, pigmentation &amp; lesion structure features from skin images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converts voice inputs → text, encoded by BERT into semantic symptom vectors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probability fusion: Pfinal = (1−α)·Pimage + α·Ptext, α optimized via Macro-F1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model reaches 69% accuracy vs 49% for image-only; text-only peaks at 99% on clean text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988A9508-17D5-F871-F380-ABBF003EBD64}"/>
              </a:ext>
            </a:extLst>
          </p:cNvPr>
          <p:cNvSpPr/>
          <p:nvPr/>
        </p:nvSpPr>
        <p:spPr>
          <a:xfrm>
            <a:off x="320040" y="91348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IT22643322  |  Wijesinghe H.W.M.O.P  |  25-26J-222</a:t>
            </a:r>
            <a:endParaRPr lang="en-US" sz="11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10C3311-8811-2B72-5365-93F4E56B48CE}"/>
              </a:ext>
            </a:extLst>
          </p:cNvPr>
          <p:cNvGrpSpPr>
            <a:grpSpLocks noChangeAspect="1"/>
          </p:cNvGrpSpPr>
          <p:nvPr/>
        </p:nvGrpSpPr>
        <p:grpSpPr>
          <a:xfrm>
            <a:off x="7589520" y="831270"/>
            <a:ext cx="1325880" cy="1532454"/>
            <a:chOff x="0" y="0"/>
            <a:chExt cx="3962400" cy="4579747"/>
          </a:xfrm>
        </p:grpSpPr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E5FDEC05-9968-0B1A-F29A-8E4D18930236}"/>
                </a:ext>
              </a:extLst>
            </p:cNvPr>
            <p:cNvSpPr/>
            <p:nvPr/>
          </p:nvSpPr>
          <p:spPr>
            <a:xfrm>
              <a:off x="0" y="0"/>
              <a:ext cx="3962400" cy="4579747"/>
            </a:xfrm>
            <a:custGeom>
              <a:avLst/>
              <a:gdLst/>
              <a:ahLst/>
              <a:cxnLst/>
              <a:rect l="l" t="t" r="r" b="b"/>
              <a:pathLst>
                <a:path w="3962400" h="4579747">
                  <a:moveTo>
                    <a:pt x="0" y="0"/>
                  </a:moveTo>
                  <a:lnTo>
                    <a:pt x="3962400" y="0"/>
                  </a:lnTo>
                  <a:lnTo>
                    <a:pt x="3962400" y="4579747"/>
                  </a:lnTo>
                  <a:lnTo>
                    <a:pt x="0" y="4579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57" b="-17241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si-LK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C2BE-7CEB-0D9E-DC42-A907075C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B9365E-390F-3FDE-7AAE-B2F4BBFCCBC3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E71944-92EF-3F10-72D6-07F45842A94D}"/>
              </a:ext>
            </a:extLst>
          </p:cNvPr>
          <p:cNvSpPr/>
          <p:nvPr/>
        </p:nvSpPr>
        <p:spPr>
          <a:xfrm>
            <a:off x="365760" y="1722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ambria"/>
                <a:ea typeface="Cambria"/>
              </a:rPr>
              <a:t>Proof of Work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D896A3-1C5F-4148-CBD3-C6565CD58BB4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6AF41DB4-8166-FF09-6394-159812617831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D112FC45-2CC5-9E44-4515-D66DF98A3E50}"/>
              </a:ext>
            </a:extLst>
          </p:cNvPr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  <p:pic>
        <p:nvPicPr>
          <p:cNvPr id="5" name="new-3.25x">
            <a:hlinkClick r:id="" action="ppaction://media"/>
            <a:extLst>
              <a:ext uri="{FF2B5EF4-FFF2-40B4-BE49-F238E27FC236}">
                <a16:creationId xmlns:a16="http://schemas.microsoft.com/office/drawing/2014/main" id="{E433D965-C626-F00A-6B7B-AB8A7E15927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05526" y="-4572"/>
            <a:ext cx="35321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7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70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FAE90-7881-F037-6A60-DD2F1005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3F649E-939D-D055-C6C4-F747909F4EA9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5F09C5-4E03-2ADA-C90B-1F9B5443E949}"/>
              </a:ext>
            </a:extLst>
          </p:cNvPr>
          <p:cNvSpPr/>
          <p:nvPr/>
        </p:nvSpPr>
        <p:spPr>
          <a:xfrm>
            <a:off x="365760" y="1722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ambria"/>
                <a:ea typeface="Cambria"/>
              </a:rPr>
              <a:t>Proof of Work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ACB339C-5DB2-1627-1C79-C8FE11F93261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775D6319-9DC4-B519-281E-8E76BB421A0E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763030AC-3419-F235-57E4-1DD2D4C4F872}"/>
              </a:ext>
            </a:extLst>
          </p:cNvPr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  <p:pic>
        <p:nvPicPr>
          <p:cNvPr id="6" name="clideo_editor_94c7e557f7be4a67b9dde7efd858098a">
            <a:hlinkClick r:id="" action="ppaction://media"/>
            <a:extLst>
              <a:ext uri="{FF2B5EF4-FFF2-40B4-BE49-F238E27FC236}">
                <a16:creationId xmlns:a16="http://schemas.microsoft.com/office/drawing/2014/main" id="{AB23906B-6CAF-EA3E-E008-E767789F5A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18418" y="976884"/>
            <a:ext cx="650716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9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4: Knowledge-Driven Treatment Recommendation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868680"/>
            <a:ext cx="1325880" cy="15544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325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IT22246400  |  </a:t>
            </a:r>
            <a:r>
              <a:rPr lang="en-US" sz="1100" i="1" dirty="0" err="1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Mihisandali</a:t>
            </a: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W.K.M  |  25-26J-222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Develop an interactive chat interface that enables users to identify skin diseases through text-based symptom descriptions and receive automated, condition-specific treatment recommendations.</a:t>
            </a:r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7132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/>
              <a:t>Conversational Diagnostic Interface</a:t>
            </a: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/>
              <a:t>Design a user-friendly </a:t>
            </a:r>
            <a:r>
              <a:rPr lang="en-US" sz="1200" dirty="0" err="1"/>
              <a:t>chatbox</a:t>
            </a:r>
            <a:r>
              <a:rPr lang="en-US" sz="1200" dirty="0"/>
              <a:t> that facilitates natural language interaction for collecting patient symptom data.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preprocessing: text cleaning, label normalization, duplicate removal, categorical encoding of therapeutic class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Disease-to-treatment mapping: each predicted label dynamically maps to clinically relevant OTC interventions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architecture: treatment database updatable without retraining classification model — supports new pharmaceutical guidelines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C40782-D33D-23DF-98DE-A3CF0593CCDC}"/>
              </a:ext>
            </a:extLst>
          </p:cNvPr>
          <p:cNvGrpSpPr>
            <a:grpSpLocks noChangeAspect="1"/>
          </p:cNvGrpSpPr>
          <p:nvPr/>
        </p:nvGrpSpPr>
        <p:grpSpPr>
          <a:xfrm>
            <a:off x="7526552" y="915455"/>
            <a:ext cx="1451816" cy="1460930"/>
            <a:chOff x="0" y="0"/>
            <a:chExt cx="4572000" cy="4600702"/>
          </a:xfrm>
        </p:grpSpPr>
        <p:sp>
          <p:nvSpPr>
            <p:cNvPr id="23" name="Freeform 18" descr="A person sitting in a chair">
              <a:extLst>
                <a:ext uri="{FF2B5EF4-FFF2-40B4-BE49-F238E27FC236}">
                  <a16:creationId xmlns:a16="http://schemas.microsoft.com/office/drawing/2014/main" id="{7B033DEF-BF53-1CEF-B50C-50F2F0E6B740}"/>
                </a:ext>
              </a:extLst>
            </p:cNvPr>
            <p:cNvSpPr/>
            <p:nvPr/>
          </p:nvSpPr>
          <p:spPr>
            <a:xfrm>
              <a:off x="0" y="0"/>
              <a:ext cx="4572000" cy="4600702"/>
            </a:xfrm>
            <a:custGeom>
              <a:avLst/>
              <a:gdLst/>
              <a:ahLst/>
              <a:cxnLst/>
              <a:rect l="l" t="t" r="r" b="b"/>
              <a:pathLst>
                <a:path w="4572000" h="4600702">
                  <a:moveTo>
                    <a:pt x="0" y="0"/>
                  </a:moveTo>
                  <a:lnTo>
                    <a:pt x="4572000" y="0"/>
                  </a:lnTo>
                  <a:lnTo>
                    <a:pt x="4572000" y="4600702"/>
                  </a:lnTo>
                  <a:lnTo>
                    <a:pt x="0" y="4600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56" r="-10856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si-LK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32A5-3E72-045B-8179-70B87FBF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509678-938F-F9F8-9913-B9BAAF06A965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72B75E-8B6F-B74C-4765-CA902E47B01E}"/>
              </a:ext>
            </a:extLst>
          </p:cNvPr>
          <p:cNvSpPr/>
          <p:nvPr/>
        </p:nvSpPr>
        <p:spPr>
          <a:xfrm>
            <a:off x="365760" y="1722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ambria"/>
                <a:ea typeface="Cambria"/>
              </a:rPr>
              <a:t>Proof of Work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3A5772-6FBA-05C2-6487-C612B5A2763E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F5B1BC60-B79F-0CF4-53BF-94E1F9D7C10D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A739A774-6420-D6DD-B38F-2AFBEC65C414}"/>
              </a:ext>
            </a:extLst>
          </p:cNvPr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  <p:pic>
        <p:nvPicPr>
          <p:cNvPr id="5" name="WhatsApp Video 2026-05-03 at 16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DD68FDB2-8DF3-028D-A534-77256BD554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413918" y="-7034"/>
            <a:ext cx="23161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5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7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Skin-Type Classification with Domain Adaptation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868680"/>
            <a:ext cx="1325880" cy="15544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325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IT22249784  |  Devindi K.P.T  |  25-26J-222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facial skin types and concerns under real-world imaging variations while ensuring fairness across diverse skin tones.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71323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backbone selected for fine-grained texture, pore structure, redness &amp; pigmentation capture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resized, normalized &amp; augmented for consistent training and improved generalization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comparison: ConvNeXt outperforms MobileNet and Swin Transformer on Macro-F1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Domain-Adversarial Neural Network (DANN) reduces sensitivity to lighting, camera &amp; environment shifts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confusion matrix — minor misclassification between visually similar oily/combination types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913632"/>
            <a:ext cx="1554480" cy="2286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39044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90688" y="390448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0.68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4233672"/>
            <a:ext cx="1120140" cy="2286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422452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56348" y="422452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0.49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4553712"/>
            <a:ext cx="937260" cy="2286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454456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73468" y="454456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0.41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Score Comparison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8F5BF6E6-13C8-9545-AA46-0648E8195E43}"/>
              </a:ext>
            </a:extLst>
          </p:cNvPr>
          <p:cNvSpPr/>
          <p:nvPr/>
        </p:nvSpPr>
        <p:spPr>
          <a:xfrm>
            <a:off x="7452360" y="1008717"/>
            <a:ext cx="1371600" cy="1409306"/>
          </a:xfrm>
          <a:custGeom>
            <a:avLst/>
            <a:gdLst/>
            <a:ahLst/>
            <a:cxnLst/>
            <a:rect l="l" t="t" r="r" b="b"/>
            <a:pathLst>
              <a:path w="4330742" h="3883889">
                <a:moveTo>
                  <a:pt x="0" y="0"/>
                </a:moveTo>
                <a:lnTo>
                  <a:pt x="4330743" y="0"/>
                </a:lnTo>
                <a:lnTo>
                  <a:pt x="4330743" y="3883889"/>
                </a:lnTo>
                <a:lnTo>
                  <a:pt x="0" y="3883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763" t="-40456" r="-47609" b="-173799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i-L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155A8-6EFF-2DBD-200C-A8C52B26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427922-1928-0885-B2FC-61A48C9A66F7}"/>
              </a:ext>
            </a:extLst>
          </p:cNvPr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22945A-2C90-D93A-E859-BDA1CF7FAD45}"/>
              </a:ext>
            </a:extLst>
          </p:cNvPr>
          <p:cNvSpPr/>
          <p:nvPr/>
        </p:nvSpPr>
        <p:spPr>
          <a:xfrm>
            <a:off x="365760" y="1722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ambria"/>
                <a:ea typeface="Cambria"/>
              </a:rPr>
              <a:t>Proof of Work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AAA0BB-6431-91F8-F674-C789CE3F5136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E69A6D98-44CC-B5A8-AFB4-E93C665DA3A5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559800A-8E64-390F-0C81-B177230C049D}"/>
              </a:ext>
            </a:extLst>
          </p:cNvPr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  <p:pic>
        <p:nvPicPr>
          <p:cNvPr id="5" name="clideo_editor_2da46c82501b40118de8e4c1b0e4976a">
            <a:hlinkClick r:id="" action="ppaction://media"/>
            <a:extLst>
              <a:ext uri="{FF2B5EF4-FFF2-40B4-BE49-F238E27FC236}">
                <a16:creationId xmlns:a16="http://schemas.microsoft.com/office/drawing/2014/main" id="{18D52E24-9FAE-DB69-738A-715895367AF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18418" y="922371"/>
            <a:ext cx="650716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8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42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Explainable Severity Assessment &amp; Progress Tracking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868680"/>
            <a:ext cx="1325880" cy="1554480"/>
          </a:xfrm>
          <a:prstGeom prst="rect">
            <a:avLst/>
          </a:prstGeom>
          <a:solidFill>
            <a:srgbClr val="ECEF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3258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interpretable skin condition severity grading (Mild / Moderate / Severe) from single-image inputs without labeled severity datasets.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350008"/>
            <a:ext cx="71323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6,768 facial skin images — resized, cropped, CLAHE illumination-normalized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features: redness intensity, brightness, texture entropy, edge density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severity score → quantile thresholds → Mild / Moderate / Severe classes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distribution: 2,234 Mild | 2,233 Moderate | 2,301 Severe cases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tracking: Improving / Stable / Worsening by comparing visit scores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4348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4434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40280" y="44348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6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40280" y="4434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60520" y="44348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539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60520" y="4434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90304715-C5AF-8262-F41D-7F51A9132415}"/>
              </a:ext>
            </a:extLst>
          </p:cNvPr>
          <p:cNvSpPr/>
          <p:nvPr/>
        </p:nvSpPr>
        <p:spPr>
          <a:xfrm>
            <a:off x="320040" y="8412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IT22277954  |  Laksopan R  |  25-26J-222</a:t>
            </a:r>
            <a:endParaRPr lang="en-US" sz="11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9D5F69-8B75-25F0-2CE8-2B227B83D2BC}"/>
              </a:ext>
            </a:extLst>
          </p:cNvPr>
          <p:cNvGrpSpPr/>
          <p:nvPr/>
        </p:nvGrpSpPr>
        <p:grpSpPr>
          <a:xfrm>
            <a:off x="7589520" y="869149"/>
            <a:ext cx="1504949" cy="1672883"/>
            <a:chOff x="0" y="0"/>
            <a:chExt cx="466312" cy="537145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49DF064C-4BCC-54E8-C9FE-12C06DA1632C}"/>
                </a:ext>
              </a:extLst>
            </p:cNvPr>
            <p:cNvSpPr/>
            <p:nvPr/>
          </p:nvSpPr>
          <p:spPr>
            <a:xfrm>
              <a:off x="0" y="0"/>
              <a:ext cx="466312" cy="537145"/>
            </a:xfrm>
            <a:custGeom>
              <a:avLst/>
              <a:gdLst/>
              <a:ahLst/>
              <a:cxnLst/>
              <a:rect l="l" t="t" r="r" b="b"/>
              <a:pathLst>
                <a:path w="466312" h="537145">
                  <a:moveTo>
                    <a:pt x="0" y="0"/>
                  </a:moveTo>
                  <a:lnTo>
                    <a:pt x="466312" y="0"/>
                  </a:lnTo>
                  <a:lnTo>
                    <a:pt x="466312" y="537145"/>
                  </a:lnTo>
                  <a:lnTo>
                    <a:pt x="0" y="537145"/>
                  </a:lnTo>
                  <a:close/>
                </a:path>
              </a:pathLst>
            </a:custGeom>
            <a:blipFill>
              <a:blip r:embed="rId3"/>
              <a:stretch>
                <a:fillRect l="-7594" r="-7594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si-LK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034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722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ambria"/>
                <a:ea typeface="Cambria"/>
              </a:rPr>
              <a:t>Proof of Work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Improvements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14800" cy="347472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0759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128016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open repositories, not clinical settings — may not fully generalize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7452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" y="184708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severity uses fixed thresholds that may miss nuanced clinical variations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441448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2648" y="241401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model's 99% accuracy is contingent on high-quality, clean symptom input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08376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2648" y="298094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mapping relies on static thresholds; requires periodic clinical validation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575304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2648" y="354787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real-world user acceptance testing conducted yet with patients or clinicians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54880" y="841248"/>
            <a:ext cx="4114800" cy="34747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475488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07592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93208" y="12801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larger, heterogeneous clinical datasets from hospitals across Sri Lanka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74520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93208" y="18470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clinically validated severity indices (e.g., EASI, PASI) for robust scoring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41448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93208" y="24140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advanced multimodal fusion: cross-attention transformers and late fusion</a:t>
            </a:r>
            <a:endParaRPr lang="en-US" sz="11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08376"/>
            <a:ext cx="228600" cy="2286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093208" y="29809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treatment recommender with LLM-powered generation and real-time drug updates</a:t>
            </a:r>
            <a:endParaRPr lang="en-US" sz="11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75304"/>
            <a:ext cx="228600" cy="2286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093208" y="3547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multilingual voice interface for local languages (Sinhala, Tamil)</a:t>
            </a:r>
            <a:endParaRPr lang="en-US" sz="1100" dirty="0"/>
          </a:p>
        </p:txBody>
      </p:sp>
      <p:sp>
        <p:nvSpPr>
          <p:cNvPr id="29" name="Shape 17"/>
          <p:cNvSpPr/>
          <p:nvPr/>
        </p:nvSpPr>
        <p:spPr>
          <a:xfrm>
            <a:off x="4572000" y="914400"/>
            <a:ext cx="0" cy="393192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9"/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B59AC-6862-6C89-E406-CDEFE2DC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FB0409-6CA6-60EB-A58C-F1ACF4294BD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15CAD1-D429-B231-422B-D23A3F7F1AC1}"/>
              </a:ext>
            </a:extLst>
          </p:cNvPr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Commercialization Strategy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CF16BE-9474-B126-56DA-385805F299E7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24D1248A-10D8-8D56-04E1-F55164A58590}"/>
              </a:ext>
            </a:extLst>
          </p:cNvPr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3B15AB45-20DF-1A03-A2FF-0D03A2A65C87}"/>
              </a:ext>
            </a:extLst>
          </p:cNvPr>
          <p:cNvSpPr/>
          <p:nvPr/>
        </p:nvSpPr>
        <p:spPr>
          <a:xfrm>
            <a:off x="27432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Skin Disease Framework  |  Group 25-26J-222</a:t>
            </a:r>
            <a:endParaRPr lang="en-US" sz="850" dirty="0"/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id="{91CA71D6-5084-E65D-A910-316D0A0F4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295" y="943924"/>
            <a:ext cx="6161649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200" b="1" dirty="0"/>
              <a:t>Product Deployment:</a:t>
            </a:r>
            <a:br>
              <a:rPr lang="en-US" sz="1000" dirty="0"/>
            </a:br>
            <a:r>
              <a:rPr lang="en-US" sz="1000" dirty="0"/>
              <a:t>The system can be deployed as a </a:t>
            </a:r>
            <a:r>
              <a:rPr lang="en-US" sz="1000" b="1" dirty="0"/>
              <a:t>scalable mobile and web-based healthcare application</a:t>
            </a:r>
            <a:r>
              <a:rPr lang="en-US" sz="1000" dirty="0"/>
              <a:t>, enabling easy access for users and healthcare providers.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Market: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for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hospitals, dermatology clinics, telemedicine platforms, and individual users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especially in regions with limited access to specialists.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Model: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can be generated through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subscription-based services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diagnostic features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integration for healthcare providers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Partnership Opportunities: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 collaborations with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hospitals, pharmaceutical companies, skincare brands, and insurance providers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expand service reach and credibility.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Scalability: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 is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scalable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the ability to expand into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markets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adapt to different healthcare environments.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 Proposition: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cost-effective, accessible, and AI-driven dermatological support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improving early diagnosis, personalized treatment, and patient engagement. </a:t>
            </a:r>
          </a:p>
        </p:txBody>
      </p:sp>
    </p:spTree>
    <p:extLst>
      <p:ext uri="{BB962C8B-B14F-4D97-AF65-F5344CB8AC3E}">
        <p14:creationId xmlns:p14="http://schemas.microsoft.com/office/powerpoint/2010/main" val="1464421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BFA5">
              <a:alpha val="12000"/>
            </a:srgbClr>
          </a:solidFill>
          <a:ln w="12700">
            <a:solidFill>
              <a:srgbClr val="00BFA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4572000" cy="4572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7899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051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proof-of-concept unified multimodal AI system for robust, interpretable, and fair dermatological diagnosis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27632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1600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+ BERT fusion outperforms image-only approaches and handles visually ambiguous cases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7627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" y="2148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severity scoring enables longitudinal disease tracking without labeled temporal datasets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24912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domain adaptation promotes fairness across skin tones and imaging environments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73552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" y="3246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Knowledge-graph treatment recommender delivers actionable, allergy-aware OTC guidance</a:t>
            </a:r>
            <a:endParaRPr lang="en-US" sz="12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22192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13232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real-world deployment in Sri Lanka's underserved dermatological landscape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B6E9-6427-6A04-2851-67424043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41" y="1973992"/>
            <a:ext cx="8763000" cy="594122"/>
          </a:xfrm>
        </p:spPr>
        <p:txBody>
          <a:bodyPr>
            <a:noAutofit/>
          </a:bodyPr>
          <a:lstStyle/>
          <a:p>
            <a:r>
              <a:rPr lang="en-US" sz="7200">
                <a:latin typeface="Cambria"/>
                <a:ea typeface="Cambria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7593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1275</Words>
  <Application>Microsoft Office PowerPoint</Application>
  <PresentationFormat>On-screen Show (16:9)</PresentationFormat>
  <Paragraphs>175</Paragraphs>
  <Slides>18</Slides>
  <Notes>16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Adobe Devanagari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Used Technologies &amp;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AI Framework for Skin Disease Diagnosis</dc:title>
  <dc:subject>PptxGenJS Presentation</dc:subject>
  <dc:creator>PptxGenJS</dc:creator>
  <cp:lastModifiedBy>Oshidee Wijesinghe</cp:lastModifiedBy>
  <cp:revision>8</cp:revision>
  <dcterms:created xsi:type="dcterms:W3CDTF">2026-05-02T05:34:57Z</dcterms:created>
  <dcterms:modified xsi:type="dcterms:W3CDTF">2026-05-03T18:51:12Z</dcterms:modified>
</cp:coreProperties>
</file>